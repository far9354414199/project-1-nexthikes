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640080"/>
            <a:ext cx="1920240" cy="19202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2011680"/>
            <a:ext cx="1097280" cy="1097280"/>
          </a:xfrm>
          <a:prstGeom prst="ellipse">
            <a:avLst/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2834640"/>
            <a:ext cx="685800" cy="6858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3657600"/>
            <a:ext cx="1645920" cy="164592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863840" cy="112030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Bike-Sharing Demand</a:t>
            </a:r>
            <a:br>
              <a:rPr dirty="0">
                <a:solidFill>
                  <a:schemeClr val="bg2">
                    <a:lumMod val="90000"/>
                  </a:schemeClr>
                </a:solidFill>
              </a:rPr>
            </a:br>
            <a:r>
              <a:rPr dirty="0">
                <a:solidFill>
                  <a:schemeClr val="bg2">
                    <a:lumMod val="90000"/>
                  </a:schemeClr>
                </a:solidFill>
              </a:rPr>
              <a:t>&amp; Operational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6492240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0">
                <a:solidFill>
                  <a:srgbClr val="D6E1EB"/>
                </a:solidFill>
                <a:latin typeface="Aptos"/>
              </a:defRPr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Presented by : Farheen Farooque</a:t>
            </a:r>
            <a:endParaRPr sz="2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680" y="4663440"/>
            <a:ext cx="1005840" cy="6400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52760" y="6309360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32520" y="594360"/>
            <a:ext cx="2057400" cy="2057400"/>
          </a:xfrm>
          <a:prstGeom prst="ellipse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66960" y="1874519"/>
            <a:ext cx="1417320" cy="141732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41080" y="2880360"/>
            <a:ext cx="1005840" cy="1005840"/>
          </a:xfrm>
          <a:prstGeom prst="ellipse">
            <a:avLst/>
          </a:prstGeom>
          <a:solidFill>
            <a:srgbClr val="F5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04120" y="3657600"/>
            <a:ext cx="1554480" cy="1554480"/>
          </a:xfrm>
          <a:prstGeom prst="ellipse">
            <a:avLst/>
          </a:prstGeom>
          <a:solidFill>
            <a:srgbClr val="4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01 /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Executive summary: demand has a clear daily rhythm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664207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58,304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12848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RENTAL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32888"/>
            <a:ext cx="22402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Across 1,000 hourly observations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0876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9000" y="1508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1664207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212848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REGISTERED RIDERS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532888"/>
            <a:ext cx="22402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Share of recorded rentals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0876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1664207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140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212848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PEAK-HOUR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532888"/>
            <a:ext cx="22402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At approximately 17:00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508760"/>
            <a:ext cx="25146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06840" y="1508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8" y="1664207"/>
            <a:ext cx="214884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58.3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212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AVERAGE PER HOUR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2532888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Across observed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29000"/>
            <a:ext cx="52120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WHAT THE DATA SUGGESTS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3840480"/>
            <a:ext cx="496519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Plan capacity around the morning and evening commute peaks.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17720"/>
            <a:ext cx="82296" cy="82296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4526280"/>
            <a:ext cx="496519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Registered riders make up the large majority of recorded demand.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212080"/>
            <a:ext cx="496519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Weather is associated with demand differences; rainy conditions show lower averages.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383280"/>
            <a:ext cx="49834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3639312"/>
            <a:ext cx="43891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MANAGEMENT 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069080"/>
            <a:ext cx="4343400" cy="1234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Use time-of-day patterns for staffing and bike availability first. Treat the results as directional: this workbook covers only the first 1,000 hourly records, not a full year.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02 / SCOPE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What was analysed — and what was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DATA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64515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1,000 hourly observations in the merged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743200"/>
            <a:ext cx="464515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Observed dates: 01 Jan 2011 to 14 Feb 2011.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429000"/>
            <a:ext cx="464515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Fields include hour, date, weather, temperature, humidity, casual riders, registered riders and total 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114800"/>
            <a:ext cx="4645152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Existing workbook calculations and pivot summaries were used alongside the merged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600200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F2A65A"/>
                </a:solidFill>
                <a:latin typeface="Aptos"/>
              </a:defRPr>
            </a:pPr>
            <a:r>
              <a:rPr>
                <a:solidFill/>
              </a:rPr>
              <a:t>IMPORTANT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4434840" cy="9601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The data spans roughly six weeks, ending in mid-February 2011. It cannot support reliable conclusions about annual seasonality or long-term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434840" cy="10515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Counts are treated as rental observations, not revenue or unique customers. Correlation is descriptive and does not establish causation.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Approach: descriptive analysis • hourly averages • weather comparisons • correlation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4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03 / 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Demand peaks align with commute periods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pic>
        <p:nvPicPr>
          <p:cNvPr id="8" name="Picture 7" descr="hourly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95160" cy="27360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69164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874519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0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128 average rentals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8600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Morning peak • 08:00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01752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320040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0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140 average rentals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61188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Evening peak • 17:00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572000"/>
            <a:ext cx="3108960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Action: prioritise bike redistribution, service checks and frontline coverage before these peaks.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Chart shows mean total count by hour across the observed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F5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04 / CUSTOMER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Registered riders are the core demand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endParaRPr lang="en-US" dirty="0">
              <a:solidFill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241280" cy="438912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9376890" cy="438912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4F83CC"/>
                </a:solidFill>
                <a:latin typeface="Aptos"/>
              </a:defRPr>
            </a:pPr>
            <a:r>
              <a:rPr>
                <a:solidFill/>
              </a:rPr>
              <a:t>Registered  53,383  (91.6%)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Casual  4,921  (8.4%)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3154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834640"/>
            <a:ext cx="64008" cy="1463040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990088"/>
            <a:ext cx="27889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53,383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538728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REGISTERED RENTALS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58768"/>
            <a:ext cx="2788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Recurring base to protect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834640"/>
            <a:ext cx="3154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51960" y="2834640"/>
            <a:ext cx="64008" cy="1463040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2990088"/>
            <a:ext cx="27889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4,921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538728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CASUAL RENTALS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858768"/>
            <a:ext cx="2788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Potential trial / conversion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834640"/>
            <a:ext cx="3154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80960" y="2834640"/>
            <a:ext cx="64008" cy="146304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82128" y="2990088"/>
            <a:ext cx="27889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58,304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3538728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TOTAL RENTALS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3858768"/>
            <a:ext cx="2788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Observed dataset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024128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Business implication: protect availability and reliability for repeat riders, while testing targeted offers that convert casual users into regular users.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05 / ENVIRONMENTAL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Weather conditions are linked with lower observed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06</a:t>
            </a:r>
          </a:p>
        </p:txBody>
      </p:sp>
      <p:pic>
        <p:nvPicPr>
          <p:cNvPr id="8" name="Picture 7" descr="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6766560" cy="30211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78308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201168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300" b="1">
                <a:solidFill>
                  <a:srgbClr val="F2A65A"/>
                </a:solidFill>
                <a:latin typeface="Aptos"/>
              </a:defRPr>
            </a:pPr>
            <a:r>
              <a:rPr>
                <a:solidFill/>
              </a:rPr>
              <a:t>46% 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87168"/>
            <a:ext cx="283464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Average count in light rain vs 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657600"/>
            <a:ext cx="2971800" cy="11430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Action: use weather forecasts to adjust staffing and fleet placement, while validating the pattern on a larger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66751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Weather groups are uneven in size; heavy-rain observations are especially limited.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06 / DRIVER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Temperature shows the strongest relationship in this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07</a:t>
            </a:r>
          </a:p>
        </p:txBody>
      </p:sp>
      <p:pic>
        <p:nvPicPr>
          <p:cNvPr id="8" name="Picture 7" descr="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6903720" cy="2792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7830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965960"/>
            <a:ext cx="28803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2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r = 0.23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42316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Temperature vs total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429000"/>
            <a:ext cx="3108960" cy="1371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Interpretation: warmer observations tend to coincide with more rentals in this sample. Weather, time and calendar effects may overlap, so correlation is not proof of cause.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69494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Pearson correlations computed from the available hourly observations.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4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07 /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Recommended actions: start with the controllable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BIKE-SHARING DEMAND  |  ANALYTICS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1627631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9047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Prepare for peak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653796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Stage bikes and schedule service coverage ahead of 08:00 and 17:00.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212848"/>
            <a:ext cx="937260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25603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2679191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5420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Use weather-aware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42032"/>
            <a:ext cx="653796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Adjust redistribution and staffing when rain is forecast; measure the impact.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3264408"/>
            <a:ext cx="937260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611879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3730752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593591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Retain registered riders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93591"/>
            <a:ext cx="653796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Prioritise reliability, availability and quick resolution of service issues.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315968"/>
            <a:ext cx="937260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466344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" y="4782312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4515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Test casual-to-member conversion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645152"/>
            <a:ext cx="653796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Pilot targeted offers during lower-demand periods and compare conversion rates.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Each action should be tested with a baseline, a defined owner and a measurable outcome.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F5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08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6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Turn this analysis into a repeatable operating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1000232" cy="10972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rPr>
                <a:solidFill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31546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3154680" cy="109728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2B8A6"/>
                </a:solidFill>
                <a:latin typeface="Aptos"/>
              </a:defRPr>
            </a:pPr>
            <a:r>
              <a:rPr>
                <a:solidFill/>
              </a:rPr>
              <a:t>NEXT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Validate the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1546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8" y="3063240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Refresh with complete historical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764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3685032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Check missing values and date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98264"/>
            <a:ext cx="82296" cy="82296"/>
          </a:xfrm>
          <a:prstGeom prst="roundRect">
            <a:avLst>
              <a:gd name="adj" fmla="val 12000"/>
            </a:avLst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8" y="4306824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Confirm peak-hour patterns by day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1645920"/>
            <a:ext cx="31546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26280" y="1645920"/>
            <a:ext cx="3154680" cy="109728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96596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4F83CC"/>
                </a:solidFill>
                <a:latin typeface="Aptos"/>
              </a:defRPr>
            </a:pPr>
            <a:r>
              <a:rPr>
                <a:solidFill/>
              </a:rPr>
              <a:t>NEXT 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395728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Run focused pilots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1546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56048" y="3063240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Test peak-hour bike staging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7764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3685032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Compare rainy vs clear-day 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398264"/>
            <a:ext cx="82296" cy="82296"/>
          </a:xfrm>
          <a:prstGeom prst="roundRect">
            <a:avLst>
              <a:gd name="adj" fmla="val 12000"/>
            </a:avLst>
          </a:prstGeom>
          <a:solidFill>
            <a:srgbClr val="4F8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6048" y="4306824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Pilot registered-rider retention offers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645920"/>
            <a:ext cx="31546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75320" y="1645920"/>
            <a:ext cx="3154680" cy="109728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196596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F2A65A"/>
                </a:solidFill>
                <a:latin typeface="Aptos"/>
              </a:defRPr>
            </a:pPr>
            <a:r>
              <a:rPr>
                <a:solidFill/>
              </a:rPr>
              <a:t>ONGOING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395728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1">
                <a:solidFill>
                  <a:srgbClr val="10243A"/>
                </a:solidFill>
                <a:latin typeface="Aptos"/>
              </a:defRPr>
            </a:pPr>
            <a:r>
              <a:rPr>
                <a:solidFill/>
              </a:rPr>
              <a:t>Track outcomes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31546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05088" y="3063240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Availability during peak periods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37764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05088" y="3685032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Hourly demand forecast 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398264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05088" y="4306824"/>
            <a:ext cx="2450591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Repeat usage and conversion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43649"/>
                </a:solidFill>
                <a:latin typeface="Aptos"/>
              </a:defRPr>
            </a:pPr>
            <a:r>
              <a:rPr>
                <a:solidFill/>
              </a:rPr>
              <a:t>Success principle: move from descriptive insights to controlled experiments, then scale what measurably improves service and customer outcomes.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927080" y="292608"/>
            <a:ext cx="594360" cy="146304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1C9E88"/>
                </a:solidFill>
                <a:latin typeface="Aptos"/>
              </a:defRPr>
            </a:pPr>
            <a:r>
              <a:t>09 / WORKBOOK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>
                <a:solidFill>
                  <a:srgbClr val="1F1C37"/>
                </a:solidFill>
                <a:latin typeface="Aptos"/>
              </a:defRPr>
            </a:pPr>
            <a:r>
              <a:t>Daily demand changes meaningfully from day to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16459"/>
          </a:xfrm>
          <a:prstGeom prst="rect">
            <a:avLst/>
          </a:prstGeom>
          <a:solidFill>
            <a:srgbClr val="E8E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5438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ily_rent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722376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691640"/>
            <a:ext cx="3063240" cy="3566160"/>
          </a:xfrm>
          <a:prstGeom prst="roundRect">
            <a:avLst/>
          </a:prstGeom>
          <a:solidFill>
            <a:srgbClr val="E8E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2514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C9E88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468880" cy="1965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0">
                <a:solidFill>
                  <a:srgbClr val="272A3D"/>
                </a:solidFill>
                <a:latin typeface="Aptos"/>
              </a:defRPr>
            </a:pPr>
            <a:r>
              <a:t>Daily totals range from 151 to 1,985 rentals in this sample. Use daily monitoring to spot unusual demand and plan capacity.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76B7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FF6F61"/>
                </a:solidFill>
                <a:latin typeface="Aptos"/>
              </a:defRPr>
            </a:pPr>
            <a:r>
              <a:t>10 / WORKBOOK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>
                <a:solidFill>
                  <a:srgbClr val="1F1C37"/>
                </a:solidFill>
                <a:latin typeface="Aptos"/>
              </a:defRPr>
            </a:pPr>
            <a:r>
              <a:t>Day type provides another lens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16459"/>
          </a:xfrm>
          <a:prstGeom prst="rect">
            <a:avLst/>
          </a:prstGeom>
          <a:solidFill>
            <a:srgbClr val="E8E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5438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ytyp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722376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691640"/>
            <a:ext cx="3063240" cy="3566160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2514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F6F61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468880" cy="1965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0">
                <a:solidFill>
                  <a:srgbClr val="272A3D"/>
                </a:solidFill>
                <a:latin typeface="Aptos"/>
              </a:defRPr>
            </a:pPr>
            <a:r>
              <a:t>Thrusday has the highest average hourly count in this sample, while Saturday is lowest. Validate this pattern before making recurring staffing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76B7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1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8174C8"/>
                </a:solidFill>
                <a:latin typeface="Aptos"/>
              </a:defRPr>
            </a:pPr>
            <a:r>
              <a:t>11 / WORKBOOK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>
                <a:solidFill>
                  <a:srgbClr val="1F1C37"/>
                </a:solidFill>
                <a:latin typeface="Aptos"/>
              </a:defRPr>
            </a:pPr>
            <a:r>
              <a:t>Registered and casual riders behave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0" cy="16459"/>
          </a:xfrm>
          <a:prstGeom prst="rect">
            <a:avLst/>
          </a:prstGeom>
          <a:solidFill>
            <a:srgbClr val="E8E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5438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er_mix_da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722376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691640"/>
            <a:ext cx="3063240" cy="3566160"/>
          </a:xfrm>
          <a:prstGeom prst="roundRect">
            <a:avLst/>
          </a:prstGeom>
          <a:solidFill>
            <a:srgbClr val="E8E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2514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8174C8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468880" cy="1965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0">
                <a:solidFill>
                  <a:srgbClr val="272A3D"/>
                </a:solidFill>
                <a:latin typeface="Aptos"/>
              </a:defRPr>
            </a:pPr>
            <a:r>
              <a:t>Compare rider segments by day type before targeting offers. Registered riders represent the core base, while casual usage may offer opportunities for trial and conversion.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76B7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2B8A6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8138160" cy="112030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Make demand patterns</a:t>
            </a:r>
            <a:br>
              <a:rPr dirty="0">
                <a:solidFill>
                  <a:schemeClr val="bg2">
                    <a:lumMod val="90000"/>
                  </a:schemeClr>
                </a:solidFill>
              </a:rPr>
            </a:br>
            <a:r>
              <a:rPr dirty="0">
                <a:solidFill>
                  <a:schemeClr val="bg2">
                    <a:lumMod val="90000"/>
                  </a:schemeClr>
                </a:solidFill>
              </a:rPr>
              <a:t>work for the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2167" y="3200400"/>
            <a:ext cx="7132320" cy="914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800" b="0">
                <a:solidFill>
                  <a:srgbClr val="D6E1EB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The clearest immediate opportunity is better peak-hour readiness, supported by weather-aware planning and a stronger focus on registered riders.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05840" cy="6400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7551174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solidFill>
                  <a:schemeClr val="bg2">
                    <a:lumMod val="90000"/>
                  </a:schemeClr>
                </a:solidFill>
              </a:rPr>
              <a:t>Thank you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09360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0" y="731520"/>
            <a:ext cx="2286000" cy="2286000"/>
          </a:xfrm>
          <a:prstGeom prst="ellipse">
            <a:avLst/>
          </a:prstGeom>
          <a:solidFill>
            <a:srgbClr val="4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0" y="2103120"/>
            <a:ext cx="1554480" cy="1554480"/>
          </a:xfrm>
          <a:prstGeom prst="ellipse">
            <a:avLst/>
          </a:prstGeom>
          <a:solidFill>
            <a:srgbClr val="1C9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5360" y="3749039"/>
            <a:ext cx="1143000" cy="114300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832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farheen farooque</cp:lastModifiedBy>
  <cp:revision>3</cp:revision>
  <dcterms:created xsi:type="dcterms:W3CDTF">2013-01-27T09:14:16Z</dcterms:created>
  <dcterms:modified xsi:type="dcterms:W3CDTF">2026-10-10T21:16:18Z</dcterms:modified>
  <cp:category/>
</cp:coreProperties>
</file>